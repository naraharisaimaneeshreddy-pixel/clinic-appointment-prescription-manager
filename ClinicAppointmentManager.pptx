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console app for a small clinic. Mention it is built only from the syllabus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registers cause double bookings. Our app prevents them in code: the doctor's grid refuses a slot that is already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Why: planning the logic first avoids mistakes. Walk through the flowchart: validate ids, check slot, then create, save and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layers: Main handles input/output, ClinicService holds the logic, FileStore handles files. Person is abstract; Patient and Doctor extend it. Reportable lets one print method serve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bitwise: three yes/no statuses fit in one int. Why cast: without (double), int division gives 0 for the paid percentage.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do-while because the menu must show at least once. switch because the menu has many fixed options. while reads a file until readLine returns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2D array: each doctor has a days x slots matrix. Adding all doctors' matrices gives the clinic load. Recursion: base cases are past the last slot, or a free slot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Encapsulation: getGridCopy returns a copy so nobody can change bookings without going through book(). Static counter gives each patient a unique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Checked exceptions: expected situations the caller must handle. NumberFormatException is unchecked and is converted to our checked exception. finally always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Binary search needs sorted data, so we sort by id first. Comparable gives one natural order; Comparator gives extra orders. StringBuilder avoids many temporary String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try-with-resources closes readers and writers automatically. A missing file is treated as no data yet. Malformed lines are skipped and counted so the app never crashes on bad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output showing schedule sorted by time, a rejected double booking and report figures. Replace with a real screenshot from your own run before the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42976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ClinicAppointmentManager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8E4"/>
                </a:solidFill>
              </a:rPr>
              <a:t>A Java console application that books clinic appointments, blocks double bookings and saves records to files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062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8C38"/>
                </a:solidFill>
              </a:rPr>
              <a:t>Programming in Java  |  Project Viva</a:t>
            </a:r>
            <a:endParaRPr lang="en-US" sz="1400" dirty="0"/>
          </a:p>
        </p:txBody>
      </p:sp>
      <p:pic>
        <p:nvPicPr>
          <p:cNvPr id="5" name="Timetable grid" descr="img/grid_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88720"/>
            <a:ext cx="4206240" cy="2779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663440" y="40690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8E4"/>
                </a:solidFill>
              </a:rPr>
              <a:t>Weekly timetable of one doctor: orange = booked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problem we solve</a:t>
            </a:r>
            <a:endParaRPr lang="en-US" sz="3200" dirty="0"/>
          </a:p>
        </p:txBody>
      </p:sp>
      <p:sp>
        <p:nvSpPr>
          <p:cNvPr id="4" name="Icon circle 1"/>
          <p:cNvSpPr/>
          <p:nvPr/>
        </p:nvSpPr>
        <p:spPr>
          <a:xfrm>
            <a:off x="457200" y="1325880"/>
            <a:ext cx="731520" cy="7315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5" name="Icon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17320" y="12801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5C"/>
                </a:solidFill>
              </a:rPr>
              <a:t>Double bookings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1417320" y="1673352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Two patients get the same doctor at the same time</a:t>
            </a:r>
            <a:endParaRPr lang="en-US" sz="1400" dirty="0"/>
          </a:p>
        </p:txBody>
      </p:sp>
      <p:sp>
        <p:nvSpPr>
          <p:cNvPr id="8" name="Icon circle 2"/>
          <p:cNvSpPr/>
          <p:nvPr/>
        </p:nvSpPr>
        <p:spPr>
          <a:xfrm>
            <a:off x="457200" y="2423160"/>
            <a:ext cx="731520" cy="7315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9" name="Icon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17320" y="23774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5C"/>
                </a:solidFill>
              </a:rPr>
              <a:t>Lost paper records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1417320" y="2770632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Patient details are hard to search or recover</a:t>
            </a:r>
            <a:endParaRPr lang="en-US" sz="1400" dirty="0"/>
          </a:p>
        </p:txBody>
      </p:sp>
      <p:sp>
        <p:nvSpPr>
          <p:cNvPr id="12" name="Icon circle 3"/>
          <p:cNvSpPr/>
          <p:nvPr/>
        </p:nvSpPr>
        <p:spPr>
          <a:xfrm>
            <a:off x="457200" y="3520440"/>
            <a:ext cx="731520" cy="7315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Icon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0332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34747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5C"/>
                </a:solidFill>
              </a:rPr>
              <a:t>No status tracking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1417320" y="3867912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Nobody knows who is confirmed or has paid</a:t>
            </a:r>
            <a:endParaRPr lang="en-US" sz="1400" dirty="0"/>
          </a:p>
        </p:txBody>
      </p:sp>
      <p:sp>
        <p:nvSpPr>
          <p:cNvPr id="16" name="Solution card"/>
          <p:cNvSpPr/>
          <p:nvPr/>
        </p:nvSpPr>
        <p:spPr>
          <a:xfrm>
            <a:off x="5120640" y="1325880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394960" y="14630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8B8D"/>
                </a:solidFill>
              </a:rPr>
              <a:t>Our solution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011680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Register patients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Book and cancel appointments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Block slot conflicts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Track confirmed / paid / follow-up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Save to files and print a report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Plan first: algorithm and flowchart</a:t>
            </a:r>
            <a:endParaRPr lang="en-US" sz="3200" dirty="0"/>
          </a:p>
        </p:txBody>
      </p:sp>
      <p:pic>
        <p:nvPicPr>
          <p:cNvPr id="4" name="Booking flowchart" descr="img/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3017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</a:rPr>
              <a:t>Booking an appointment: two checks, then save. Planned on paper before any Java was written.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Program design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01752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Main: menu, Scanner, printf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ClinicService: rules and report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FileStore: reading and writing files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Person to Patient and Doctor: is-a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Reportable: one print method for all</a:t>
            </a:r>
            <a:endParaRPr lang="en-US" sz="1500" dirty="0"/>
          </a:p>
        </p:txBody>
      </p:sp>
      <p:pic>
        <p:nvPicPr>
          <p:cNvPr id="5" name="Class diagram" descr="img/class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188720"/>
            <a:ext cx="4937760" cy="36210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Java foundations in use</a:t>
            </a:r>
            <a:endParaRPr lang="en-US" sz="3200" dirty="0"/>
          </a:p>
        </p:txBody>
      </p:sp>
      <p:sp>
        <p:nvSpPr>
          <p:cNvPr id="4" name="Card 1"/>
          <p:cNvSpPr/>
          <p:nvPr/>
        </p:nvSpPr>
        <p:spPr>
          <a:xfrm>
            <a:off x="457200" y="1280160"/>
            <a:ext cx="4114800" cy="731520"/>
          </a:xfrm>
          <a:prstGeom prst="roundRect">
            <a:avLst>
              <a:gd name="adj" fmla="val 125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</a:rPr>
              <a:t>Primitive types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int for ids and slots, double for fees</a:t>
            </a:r>
            <a:endParaRPr lang="en-US" sz="1600" dirty="0"/>
          </a:p>
        </p:txBody>
      </p:sp>
      <p:sp>
        <p:nvSpPr>
          <p:cNvPr id="6" name="Card 2"/>
          <p:cNvSpPr/>
          <p:nvPr/>
        </p:nvSpPr>
        <p:spPr>
          <a:xfrm>
            <a:off x="457200" y="2148840"/>
            <a:ext cx="4114800" cy="731520"/>
          </a:xfrm>
          <a:prstGeom prst="roundRect">
            <a:avLst>
              <a:gd name="adj" fmla="val 125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14884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</a:rPr>
              <a:t>Constants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final static values in one file</a:t>
            </a:r>
            <a:endParaRPr lang="en-US" sz="1600" dirty="0"/>
          </a:p>
        </p:txBody>
      </p:sp>
      <p:sp>
        <p:nvSpPr>
          <p:cNvPr id="8" name="Card 3"/>
          <p:cNvSpPr/>
          <p:nvPr/>
        </p:nvSpPr>
        <p:spPr>
          <a:xfrm>
            <a:off x="457200" y="3017520"/>
            <a:ext cx="4114800" cy="731520"/>
          </a:xfrm>
          <a:prstGeom prst="roundRect">
            <a:avLst>
              <a:gd name="adj" fmla="val 125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01752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</a:rPr>
              <a:t>Operators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arithmetic, relational, logical, ternary</a:t>
            </a:r>
            <a:endParaRPr lang="en-US" sz="1600" dirty="0"/>
          </a:p>
        </p:txBody>
      </p:sp>
      <p:sp>
        <p:nvSpPr>
          <p:cNvPr id="10" name="Card 4"/>
          <p:cNvSpPr/>
          <p:nvPr/>
        </p:nvSpPr>
        <p:spPr>
          <a:xfrm>
            <a:off x="457200" y="3886200"/>
            <a:ext cx="4114800" cy="731520"/>
          </a:xfrm>
          <a:prstGeom prst="roundRect">
            <a:avLst>
              <a:gd name="adj" fmla="val 125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88620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</a:rPr>
              <a:t>Typecasting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(double) paid * 100 / total</a:t>
            </a:r>
            <a:endParaRPr lang="en-US" sz="1600" dirty="0"/>
          </a:p>
        </p:txBody>
      </p:sp>
      <p:pic>
        <p:nvPicPr>
          <p:cNvPr id="12" name="Bit flags" descr="img/bi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80160"/>
            <a:ext cx="3840480" cy="2505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46320" y="38862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8B8D"/>
                </a:solidFill>
              </a:rPr>
              <a:t>Bitwise flags: one int stores three statuses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ippl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Control flow: menu and loops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84048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0252B"/>
                </a:solidFill>
              </a:rPr>
              <a:t>do-while: menu shows at least once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0252B"/>
                </a:solidFill>
              </a:rPr>
              <a:t>switch: 11 fixed menu options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0252B"/>
                </a:solidFill>
              </a:rPr>
              <a:t>if-else ladder: picks the status flag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0252B"/>
                </a:solidFill>
              </a:rPr>
              <a:t>for and for-each: walk the day x slot grid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0252B"/>
                </a:solidFill>
              </a:rPr>
              <a:t>while: read a file until it ends</a:t>
            </a:r>
            <a:endParaRPr lang="en-US" sz="1600" dirty="0"/>
          </a:p>
        </p:txBody>
      </p:sp>
      <p:pic>
        <p:nvPicPr>
          <p:cNvPr id="5" name="Console menu" descr="img/men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71600"/>
            <a:ext cx="4206240" cy="218541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480560" y="36576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</a:rPr>
              <a:t>The menu loop, as the user sees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Arrays and recursion</a:t>
            </a:r>
            <a:endParaRPr lang="en-US" sz="3200" dirty="0"/>
          </a:p>
        </p:txBody>
      </p:sp>
      <p:pic>
        <p:nvPicPr>
          <p:cNvPr id="4" name="Doctor grid" descr="img/grid_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931920" cy="2596896"/>
          </a:xfrm>
          <a:prstGeom prst="rect">
            <a:avLst/>
          </a:prstGeom>
        </p:spPr>
      </p:pic>
      <p:pic>
        <p:nvPicPr>
          <p:cNvPr id="5" name="Recursion trace" descr="img/recu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34440"/>
            <a:ext cx="4023360" cy="225856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3931920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5C"/>
                </a:solidFill>
              </a:rPr>
              <a:t>2D array: </a:t>
            </a:r>
            <a:r>
              <a:rPr lang="en-US" sz="1400" dirty="0">
                <a:solidFill>
                  <a:srgbClr val="10252B"/>
                </a:solidFill>
              </a:rPr>
              <a:t>one 6 x 8 matrix per doctor; adding matrices gives the clinic load</a:t>
            </a:r>
            <a:endParaRPr lang="en-US" sz="1400" dirty="0"/>
          </a:p>
        </p:txBody>
      </p:sp>
      <p:sp>
        <p:nvSpPr>
          <p:cNvPr id="7" name="Text 2"/>
          <p:cNvSpPr txBox="1"/>
          <p:nvPr/>
        </p:nvSpPr>
        <p:spPr>
          <a:xfrm>
            <a:off x="4663440" y="393192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5C"/>
                </a:solidFill>
              </a:rPr>
              <a:t>Recursion: </a:t>
            </a:r>
            <a:r>
              <a:rPr lang="en-US" sz="1400" dirty="0">
                <a:solidFill>
                  <a:srgbClr val="10252B"/>
                </a:solidFill>
              </a:rPr>
              <a:t>finds the next free slot; base case is a free slot or the end of the day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Object-oriented design</a:t>
            </a:r>
            <a:endParaRPr lang="en-US" sz="3200" dirty="0"/>
          </a:p>
        </p:txBody>
      </p:sp>
      <p:sp>
        <p:nvSpPr>
          <p:cNvPr id="4" name="OOP card 1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5" name="OOP icon circle 1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6" name="OOP icon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719072"/>
            <a:ext cx="310896" cy="3108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4630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5C"/>
                </a:solidFill>
              </a:rPr>
              <a:t>Encapsulation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508760" y="192024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Private fields; Doctor returns a copy of its grid</a:t>
            </a:r>
            <a:endParaRPr lang="en-US" sz="1400" dirty="0"/>
          </a:p>
        </p:txBody>
      </p:sp>
      <p:sp>
        <p:nvSpPr>
          <p:cNvPr id="9" name="OOP card 2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OOP icon circle 2"/>
          <p:cNvSpPr/>
          <p:nvPr/>
        </p:nvSpPr>
        <p:spPr>
          <a:xfrm>
            <a:off x="4892040" y="155448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1" name="OOP icon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1907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0" y="14630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5C"/>
                </a:solidFill>
              </a:rPr>
              <a:t>Inheritance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715000" y="192024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Patient and Doctor extend abstract Person</a:t>
            </a:r>
            <a:endParaRPr lang="en-US" sz="1400" dirty="0"/>
          </a:p>
        </p:txBody>
      </p:sp>
      <p:sp>
        <p:nvSpPr>
          <p:cNvPr id="14" name="OOP card 3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5" name="OOP icon circle 3"/>
          <p:cNvSpPr/>
          <p:nvPr/>
        </p:nvSpPr>
        <p:spPr>
          <a:xfrm>
            <a:off x="685800" y="324612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6" name="OOP icon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1071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31546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5C"/>
                </a:solidFill>
              </a:rPr>
              <a:t>Interface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361188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Reportable gives one print method for all</a:t>
            </a:r>
            <a:endParaRPr lang="en-US" sz="1400" dirty="0"/>
          </a:p>
        </p:txBody>
      </p:sp>
      <p:sp>
        <p:nvSpPr>
          <p:cNvPr id="19" name="OOP card 4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0" name="OOP icon circle 4"/>
          <p:cNvSpPr/>
          <p:nvPr/>
        </p:nvSpPr>
        <p:spPr>
          <a:xfrm>
            <a:off x="4892040" y="324612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1" name="OOP icon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41071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15000" y="31546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5C"/>
                </a:solidFill>
              </a:rPr>
              <a:t>Static and this()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0" y="361188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Shared id counter; overloaded constructors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Exception handling</a:t>
            </a:r>
            <a:endParaRPr lang="en-US" sz="3200" dirty="0"/>
          </a:p>
        </p:txBody>
      </p:sp>
      <p:pic>
        <p:nvPicPr>
          <p:cNvPr id="4" name="Exception chain" descr="img/excep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1737360"/>
          </a:xfrm>
          <a:prstGeom prst="rect">
            <a:avLst/>
          </a:prstGeom>
        </p:spPr>
      </p:pic>
      <p:sp>
        <p:nvSpPr>
          <p:cNvPr id="5" name="Exception card 1"/>
          <p:cNvSpPr/>
          <p:nvPr/>
        </p:nvSpPr>
        <p:spPr>
          <a:xfrm>
            <a:off x="45720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3246120"/>
            <a:ext cx="23774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</a:rPr>
              <a:t>Checked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InvalidInputException and SlotConflictException must be handled</a:t>
            </a:r>
            <a:endParaRPr lang="en-US" sz="1600" dirty="0"/>
          </a:p>
        </p:txBody>
      </p:sp>
      <p:sp>
        <p:nvSpPr>
          <p:cNvPr id="7" name="Exception card 2"/>
          <p:cNvSpPr/>
          <p:nvPr/>
        </p:nvSpPr>
        <p:spPr>
          <a:xfrm>
            <a:off x="329184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429000" y="3246120"/>
            <a:ext cx="23774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</a:rPr>
              <a:t>Unchecked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NumberFormatException is caught and converted</a:t>
            </a:r>
            <a:endParaRPr lang="en-US" sz="1600" dirty="0"/>
          </a:p>
        </p:txBody>
      </p:sp>
      <p:sp>
        <p:nvSpPr>
          <p:cNvPr id="9" name="Exception card 3"/>
          <p:cNvSpPr/>
          <p:nvPr/>
        </p:nvSpPr>
        <p:spPr>
          <a:xfrm>
            <a:off x="612648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63640" y="3246120"/>
            <a:ext cx="23774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</a:rPr>
              <a:t>finally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Saves data and says goodbye even if saving fails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Strings, sorting and searching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String: trim, split, join, contains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equals() compares content, == compares references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StringBuilder builds the report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Comparable: day, then slot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Comparator: by id, by doctor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binarySearch after sorting</a:t>
            </a:r>
            <a:endParaRPr lang="en-US" sz="1500" dirty="0"/>
          </a:p>
        </p:txBody>
      </p:sp>
      <p:pic>
        <p:nvPicPr>
          <p:cNvPr id="5" name="Binary search" descr="img/se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63040"/>
            <a:ext cx="4023360" cy="22768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663440" y="38404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</a:rPr>
              <a:t>Sort first, then binary search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File input and output</a:t>
            </a:r>
            <a:endParaRPr lang="en-US" sz="3200" dirty="0"/>
          </a:p>
        </p:txBody>
      </p:sp>
      <p:pic>
        <p:nvPicPr>
          <p:cNvPr id="4" name="File I/O diagram" descr="img/file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6517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97764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</a:rPr>
              <a:t>try-with-resources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Files close automatically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3291840" y="397764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</a:rPr>
              <a:t>Missing file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Treated as no data yet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397764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</a:rPr>
              <a:t>Bad records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0252B"/>
                </a:solidFill>
              </a:rPr>
              <a:t>Skipped and counted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The app in action</a:t>
            </a:r>
            <a:endParaRPr lang="en-US" sz="3200" dirty="0"/>
          </a:p>
        </p:txBody>
      </p:sp>
      <p:pic>
        <p:nvPicPr>
          <p:cNvPr id="4" name="Sample console output" descr="img/outpu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486400" cy="3200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309360" y="12801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8B8D"/>
                </a:solidFill>
              </a:rPr>
              <a:t>Report shows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6309360" y="1783080"/>
            <a:ext cx="23774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Appointments per doctor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Busiest doctor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Revenue and average fee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0252B"/>
                </a:solidFill>
              </a:rPr>
              <a:t>Clinic load grid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480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</a:rPr>
              <a:t>Illustrative output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Every topic has a reason</a:t>
            </a:r>
            <a:endParaRPr lang="en-US" sz="3800" dirty="0"/>
          </a:p>
        </p:txBody>
      </p:sp>
      <p:sp>
        <p:nvSpPr>
          <p:cNvPr id="3" name="Stat card 1"/>
          <p:cNvSpPr/>
          <p:nvPr/>
        </p:nvSpPr>
        <p:spPr>
          <a:xfrm>
            <a:off x="457200" y="1828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F6A7B"/>
          </a:solidFill>
          <a:ln w="12700">
            <a:solidFill>
              <a:srgbClr val="1F6A7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92024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8C38"/>
                </a:solidFill>
              </a:rPr>
              <a:t>14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Java files</a:t>
            </a:r>
            <a:endParaRPr lang="en-US" sz="16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828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F6A7B"/>
          </a:solidFill>
          <a:ln w="12700">
            <a:solidFill>
              <a:srgbClr val="1F6A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92024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8C38"/>
                </a:solidFill>
              </a:rPr>
              <a:t>30+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92608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syllabus topics</a:t>
            </a:r>
            <a:endParaRPr lang="en-US" sz="1600" dirty="0"/>
          </a:p>
        </p:txBody>
      </p:sp>
      <p:sp>
        <p:nvSpPr>
          <p:cNvPr id="9" name="Stat card 3"/>
          <p:cNvSpPr/>
          <p:nvPr/>
        </p:nvSpPr>
        <p:spPr>
          <a:xfrm>
            <a:off x="6126480" y="1828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F6A7B"/>
          </a:solidFill>
          <a:ln w="12700">
            <a:solidFill>
              <a:srgbClr val="1F6A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92024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8C38"/>
                </a:solidFill>
              </a:rPr>
              <a:t>1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92608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working app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FE8E4"/>
                </a:solidFill>
              </a:rPr>
              <a:t>Thank you.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nic Teal">
  <a:themeElements>
    <a:clrScheme name="Clinic Teal">
      <a:dk1>
        <a:srgbClr val="10252B"/>
      </a:dk1>
      <a:lt1>
        <a:srgbClr val="FFFFFF"/>
      </a:lt1>
      <a:dk2>
        <a:srgbClr val="0F4C5C"/>
      </a:dk2>
      <a:lt2>
        <a:srgbClr val="E6F2F0"/>
      </a:lt2>
      <a:accent1>
        <a:srgbClr val="0F8B8D"/>
      </a:accent1>
      <a:accent2>
        <a:srgbClr val="F28C38"/>
      </a:accent2>
      <a:accent3>
        <a:srgbClr val="7FB7BE"/>
      </a:accent3>
      <a:accent4>
        <a:srgbClr val="D9534F"/>
      </a:accent4>
      <a:accent5>
        <a:srgbClr val="5C6B73"/>
      </a:accent5>
      <a:accent6>
        <a:srgbClr val="1F6A7B"/>
      </a:accent6>
      <a:hlink>
        <a:srgbClr val="0F8B8D"/>
      </a:hlink>
      <a:folHlink>
        <a:srgbClr val="5C6B73"/>
      </a:folHlink>
    </a:clrScheme>
    <a:fontScheme name="Clinic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linic Teal">
  <a:themeElements>
    <a:clrScheme name="Clinic Teal">
      <a:dk1>
        <a:srgbClr val="10252B"/>
      </a:dk1>
      <a:lt1>
        <a:srgbClr val="FFFFFF"/>
      </a:lt1>
      <a:dk2>
        <a:srgbClr val="0F4C5C"/>
      </a:dk2>
      <a:lt2>
        <a:srgbClr val="E6F2F0"/>
      </a:lt2>
      <a:accent1>
        <a:srgbClr val="0F8B8D"/>
      </a:accent1>
      <a:accent2>
        <a:srgbClr val="F28C38"/>
      </a:accent2>
      <a:accent3>
        <a:srgbClr val="7FB7BE"/>
      </a:accent3>
      <a:accent4>
        <a:srgbClr val="D9534F"/>
      </a:accent4>
      <a:accent5>
        <a:srgbClr val="5C6B73"/>
      </a:accent5>
      <a:accent6>
        <a:srgbClr val="1F6A7B"/>
      </a:accent6>
      <a:hlink>
        <a:srgbClr val="0F8B8D"/>
      </a:hlink>
      <a:folHlink>
        <a:srgbClr val="5C6B73"/>
      </a:folHlink>
    </a:clrScheme>
    <a:fontScheme name="Clinic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2578</Words>
  <Application>WPS Presentation</Application>
  <PresentationFormat>On-screen Show (16:9)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Microsoft YaHei</vt:lpstr>
      <vt:lpstr>Arial Unicode MS</vt:lpstr>
      <vt:lpstr>Clinic Teal</vt:lpstr>
      <vt:lpstr>PowerPoint 演示文稿</vt:lpstr>
      <vt:lpstr>The problem we solve</vt:lpstr>
      <vt:lpstr>Plan first: algorithm and flowchart</vt:lpstr>
      <vt:lpstr>Program design</vt:lpstr>
      <vt:lpstr>Java foundations in use</vt:lpstr>
      <vt:lpstr>Control flow: menu and loops</vt:lpstr>
      <vt:lpstr>Arrays and recursion</vt:lpstr>
      <vt:lpstr>Object-oriented design</vt:lpstr>
      <vt:lpstr>Exception handling</vt:lpstr>
      <vt:lpstr>Strings, sorting and searching</vt:lpstr>
      <vt:lpstr>File input and output</vt:lpstr>
      <vt:lpstr>The app in action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ClinicAppointmentManager</dc:title>
  <dc:creator>PptxGenJS</dc:creator>
  <dc:subject>PptxGenJS Presentation</dc:subject>
  <cp:lastModifiedBy>narahari srinivasreddy</cp:lastModifiedBy>
  <cp:revision>2</cp:revision>
  <dcterms:created xsi:type="dcterms:W3CDTF">2026-10-07T05:17:00Z</dcterms:created>
  <dcterms:modified xsi:type="dcterms:W3CDTF">2026-10-07T05:23:02Z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AC55D4D3E0534985BA7CCE8F1EDE9C5C_12</vt:lpwstr>
  </property>
</Properties>
</file>